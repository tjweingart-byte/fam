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read from topics.py when it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4EFE4"/>
                </a:solidFill>
                <a:latin typeface="Cambria"/>
              </a:rPr>
              <a:t>How Made for you chooses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ABA3C4"/>
                </a:solidFill>
                <a:latin typeface="Calibri"/>
              </a:rPr>
              <a:t>A listener's taste profile, and the ranking built on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8A83A0"/>
                </a:solidFill>
                <a:latin typeface="Calibri"/>
              </a:rPr>
              <a:t>ALGO_VERSION 2026-10-05.1  ·  generated from the code by tools/algorithm_docs.py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Four steps from what you did to what you see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37360"/>
            <a:ext cx="2606040" cy="301752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59" y="2011680"/>
            <a:ext cx="731520" cy="731520"/>
          </a:xfrm>
          <a:prstGeom prst="ellipse">
            <a:avLst/>
          </a:prstGeom>
          <a:solidFill>
            <a:srgbClr val="E26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971800"/>
            <a:ext cx="21031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8151F"/>
                </a:solidFill>
                <a:latin typeface="Cambria"/>
              </a:rPr>
              <a:t>Taste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611880"/>
            <a:ext cx="210312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F5A70"/>
                </a:solidFill>
                <a:latin typeface="Calibri"/>
              </a:rPr>
              <a:t>Your actions and chosen interests become a weighted subject tree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737360"/>
            <a:ext cx="2606040" cy="301752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57600" y="2011680"/>
            <a:ext cx="731520" cy="731520"/>
          </a:xfrm>
          <a:prstGeom prst="ellipse">
            <a:avLst/>
          </a:prstGeom>
          <a:solidFill>
            <a:srgbClr val="E26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71800"/>
            <a:ext cx="21031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8151F"/>
                </a:solidFill>
                <a:latin typeface="Cambria"/>
              </a:rPr>
              <a:t>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611880"/>
            <a:ext cx="210312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F5A70"/>
                </a:solidFill>
                <a:latin typeface="Calibri"/>
              </a:rPr>
              <a:t>Every tile is matched against that tree, specific subjects counting most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2606040" cy="301752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E26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71800"/>
            <a:ext cx="21031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8151F"/>
                </a:solidFill>
                <a:latin typeface="Cambria"/>
              </a:rPr>
              <a:t>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11880"/>
            <a:ext cx="210312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F5A70"/>
                </a:solidFill>
                <a:latin typeface="Calibri"/>
              </a:rPr>
              <a:t>Heard, off-subject and far minor-league tiles are removed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737360"/>
            <a:ext cx="2606040" cy="301752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0" y="2011680"/>
            <a:ext cx="731520" cy="731520"/>
          </a:xfrm>
          <a:prstGeom prst="ellipse">
            <a:avLst/>
          </a:prstGeom>
          <a:solidFill>
            <a:srgbClr val="E26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971800"/>
            <a:ext cx="21031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8151F"/>
                </a:solidFill>
                <a:latin typeface="Cambria"/>
              </a:rPr>
              <a:t>Shape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611880"/>
            <a:ext cx="210312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F5A70"/>
                </a:solidFill>
                <a:latin typeface="Calibri"/>
              </a:rPr>
              <a:t>Written episodes first, max 2 per heading, 4 tiles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F5A70"/>
                </a:solidFill>
                <a:latin typeface="Calibri"/>
              </a:rPr>
              <a:t>The first rail on myFAM, chosen for one listener from two inventories: today's live stories and the evergreen bank.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Every action carries a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vibe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2103120" y="1527048"/>
            <a:ext cx="4206240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2.5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463040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VIBE! on an episode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pick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057400"/>
            <a:ext cx="3701491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96051" y="1993392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993392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A subject picked from a list (interests page, Explore's check)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mix_add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587751"/>
            <a:ext cx="3364991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552" y="2523744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523744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A subject or episode added to one of your mixes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54096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share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3118103"/>
            <a:ext cx="3364991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2" y="3054096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054096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Sending an episode to someone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84448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save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3648456"/>
            <a:ext cx="3364991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3584448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584448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Save for later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14800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120" y="4178808"/>
            <a:ext cx="2523744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18304" y="4114800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1.5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114800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Typing (or saying) a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45152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complete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03120" y="4709160"/>
            <a:ext cx="2523744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8304" y="4645152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645152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Finishing an episode (85% heard)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175504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play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03120" y="5239512"/>
            <a:ext cx="1682495" cy="292608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77056" y="5175504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175504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Starting an episode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705856"/>
            <a:ext cx="14630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skip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03120" y="5769864"/>
            <a:ext cx="841247" cy="292608"/>
          </a:xfrm>
          <a:prstGeom prst="rect">
            <a:avLst/>
          </a:prstGeom>
          <a:solidFill>
            <a:srgbClr val="E26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35808" y="5705856"/>
            <a:ext cx="8229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8151F"/>
                </a:solidFill>
                <a:latin typeface="Calibri"/>
              </a:rPr>
              <a:t>-0.5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05856"/>
            <a:ext cx="448056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Skipping an episode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F5A70"/>
                </a:solidFill>
                <a:latin typeface="Calibri"/>
              </a:rPr>
              <a:t>Each signal halves every 14 days. Impressions are never taste.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Your chosen interests never fade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8000"/>
            </a:avLst>
          </a:prstGeom>
          <a:solidFill>
            <a:srgbClr val="F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438912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7200" b="1">
                <a:solidFill>
                  <a:srgbClr val="E2694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438912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8151F"/>
                </a:solidFill>
                <a:latin typeface="Calibri"/>
              </a:rPr>
              <a:t>added to every chosen interest after your listening is scaled to a peak of 1.0 - on day one and in year two alike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48640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8151F"/>
                </a:solidFill>
                <a:latin typeface="Calibri"/>
              </a:rPr>
              <a:t>•  Never decays and is never outvoted by listening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8151F"/>
                </a:solidFill>
                <a:latin typeface="Calibri"/>
              </a:rPr>
              <a:t>•  A skip cannot take it below that floor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8151F"/>
                </a:solidFill>
                <a:latin typeface="Calibri"/>
              </a:rPr>
              <a:t>•  The eight headings and named subjects from the interests page both count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8151F"/>
                </a:solidFill>
                <a:latin typeface="Calibri"/>
              </a:rPr>
              <a:t>•  Choosing NFL also lifts American football and sport, through the tree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8151F"/>
                </a:solidFill>
                <a:latin typeface="Calibri"/>
              </a:rPr>
              <a:t>•  The only part of the algorithm a listener steers on purpose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A tree, not a list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23360" cy="77724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709928"/>
            <a:ext cx="23774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8151F"/>
                </a:solidFill>
                <a:latin typeface="Calibri"/>
              </a:rPr>
              <a:t>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709928"/>
            <a:ext cx="1097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5E8270"/>
                </a:solidFill>
                <a:latin typeface="Calibri"/>
              </a:rPr>
              <a:t>0.22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514600"/>
            <a:ext cx="4023360" cy="77724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2670048"/>
            <a:ext cx="23774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8151F"/>
                </a:solidFill>
                <a:latin typeface="Calibri"/>
              </a:rPr>
              <a:t>American Football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670048"/>
            <a:ext cx="1097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5E8270"/>
                </a:solidFill>
                <a:latin typeface="Calibri"/>
              </a:rPr>
              <a:t>0.36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3474720"/>
            <a:ext cx="4023360" cy="777240"/>
          </a:xfrm>
          <a:prstGeom prst="roundRect">
            <a:avLst>
              <a:gd name="adj" fmla="val 8000"/>
            </a:avLst>
          </a:prstGeom>
          <a:solidFill>
            <a:srgbClr val="EE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3630168"/>
            <a:ext cx="23774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8151F"/>
                </a:solidFill>
                <a:latin typeface="Calibri"/>
              </a:rPr>
              <a:t>NFL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630168"/>
            <a:ext cx="1097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5E8270"/>
                </a:solidFill>
                <a:latin typeface="Calibri"/>
              </a:rPr>
              <a:t>0.60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434840"/>
            <a:ext cx="4023360" cy="777240"/>
          </a:xfrm>
          <a:prstGeom prst="roundRect">
            <a:avLst>
              <a:gd name="adj" fmla="val 8000"/>
            </a:avLst>
          </a:prstGeom>
          <a:solidFill>
            <a:srgbClr val="FC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3774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8151F"/>
                </a:solidFill>
                <a:latin typeface="Calibri"/>
              </a:rPr>
              <a:t>Bengals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90288"/>
            <a:ext cx="1097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645920"/>
            <a:ext cx="493776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•  The most specific subject takes the whole signal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•  Each heading above takes 0.6x per level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•  A specific story beats a general one: a category counts 1.75^depth when scored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•  No Bengals story today? The NFL and football tiles come next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•  Every NFL, NBA, MLB and NHL team is seeded under its league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How one tile is scored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8151F"/>
                </a:solidFill>
                <a:latin typeface="Courier New"/>
              </a:rPr>
              <a:t>(affinity + meaning) × fatigue × freshness × local × engagement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10896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291840"/>
            <a:ext cx="3017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Affinity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749039"/>
            <a:ext cx="30175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8151F"/>
                </a:solidFill>
                <a:latin typeface="Calibri"/>
              </a:rPr>
              <a:t>Σ taste × specificity ÷ √tags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310896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9" y="3291840"/>
            <a:ext cx="3017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Freshness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3749039"/>
            <a:ext cx="30175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8151F"/>
                </a:solidFill>
                <a:latin typeface="Calibri"/>
              </a:rPr>
              <a:t>1 + 1.6 × push (live only)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310896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291840"/>
            <a:ext cx="3017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Fatigue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749039"/>
            <a:ext cx="30175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8151F"/>
                </a:solidFill>
                <a:latin typeface="Calibri"/>
              </a:rPr>
              <a:t>down to 0.15 if ignored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846320"/>
            <a:ext cx="3017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303520"/>
            <a:ext cx="30175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8151F"/>
                </a:solidFill>
                <a:latin typeface="Calibri"/>
              </a:rPr>
              <a:t>×1.5 for your town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46634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4846320"/>
            <a:ext cx="3017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Engagement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5303520"/>
            <a:ext cx="30175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8151F"/>
                </a:solidFill>
                <a:latin typeface="Calibri"/>
              </a:rPr>
              <a:t>0.6-1.5, global tap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4663440"/>
            <a:ext cx="3520440" cy="1325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846320"/>
            <a:ext cx="3017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Floor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303520"/>
            <a:ext cx="30175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8151F"/>
                </a:solidFill>
                <a:latin typeface="Calibri"/>
              </a:rPr>
              <a:t>kept only above 0.12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A Bengals fan's rail, computed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1206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Their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1206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Culture  2.00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Sport  0.41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    American Football  0.45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        NFL  0.84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            Bengals  1.00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    Sports Business  0.26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    Sports Drama  0.24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Health &amp; mind  0.05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    Medicine  0.08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ourier New"/>
              </a:rPr>
              <a:t>        Vaccines  0.14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325880"/>
            <a:ext cx="5669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694F"/>
                </a:solidFill>
                <a:latin typeface="Calibri"/>
              </a:rPr>
              <a:t>Tiles by affinity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828800"/>
            <a:ext cx="32918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alibri"/>
              </a:rPr>
              <a:t>Bengals injury report before Sunday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0" y="1901952"/>
            <a:ext cx="1828800" cy="274320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18288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8151F"/>
                </a:solidFill>
                <a:latin typeface="Calibri"/>
              </a:rPr>
              <a:t>4.56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14600"/>
            <a:ext cx="32918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alibri"/>
              </a:rPr>
              <a:t>NFL trade deadline: who won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587752"/>
            <a:ext cx="870475" cy="274320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80235" y="25146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8151F"/>
                </a:solidFill>
                <a:latin typeface="Calibri"/>
              </a:rPr>
              <a:t>2.17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200400"/>
            <a:ext cx="32918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alibri"/>
              </a:rPr>
              <a:t>Inside the Oscars race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3273552"/>
            <a:ext cx="802281" cy="274320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12041" y="32004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8151F"/>
                </a:solidFill>
                <a:latin typeface="Calibri"/>
              </a:rPr>
              <a:t>2.00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886200"/>
            <a:ext cx="32918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alibri"/>
              </a:rPr>
              <a:t>College football playoff picture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3959352"/>
            <a:ext cx="160857" cy="274320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0617" y="38862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8151F"/>
                </a:solidFill>
                <a:latin typeface="Calibri"/>
              </a:rPr>
              <a:t>0.40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572000"/>
            <a:ext cx="32918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alibri"/>
              </a:rPr>
              <a:t>Premier League title race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645152"/>
            <a:ext cx="60973" cy="274320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0733" y="45720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8151F"/>
                </a:solidFill>
                <a:latin typeface="Calibri"/>
              </a:rPr>
              <a:t>0.15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257800"/>
            <a:ext cx="32918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8151F"/>
                </a:solidFill>
                <a:latin typeface="Calibri"/>
              </a:rPr>
              <a:t>A new malaria vaccine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5330952"/>
            <a:ext cx="36576" cy="274320"/>
          </a:xfrm>
          <a:prstGeom prst="rect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3799" y="52578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8151F"/>
                </a:solidFill>
                <a:latin typeface="Calibri"/>
              </a:rPr>
              <a:t>0.04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F5A70"/>
                </a:solidFill>
                <a:latin typeface="Calibri"/>
              </a:rPr>
              <a:t>Run through the real taste() and _affinity() over the seeded tree, before the multipliers.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Removed first, then arranged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47548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2694F"/>
                </a:solidFill>
                <a:latin typeface="Cambria"/>
              </a:rPr>
              <a:t>What is never offered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23160"/>
            <a:ext cx="47548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Anything the listener has already heard (a moved-on live story comes back as a 'what's new' follow-up).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A live story that names nothing they follow - only the heading matches, no word they used, no near paraphrase.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A minor-league game on another continent, unless they follow the team or league.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Anything Trending or 'What you missed' already holds.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59" y="1783080"/>
            <a:ext cx="47548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2694F"/>
                </a:solidFill>
                <a:latin typeface="Cambria"/>
              </a:rPr>
              <a:t>Shaping the 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59" y="2423160"/>
            <a:ext cx="475488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Already-written episodes go first, 24 deep.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At most 2 tiles per heading - strictly.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Topped up to 4 from evergreen tiles by affinity - never from the live pool.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8151F"/>
                </a:solidFill>
                <a:latin typeface="Calibri"/>
              </a:rPr>
              <a:t>•  A learned re-ranker may reorder what cleared the floor, only if one has been trained and beat the hand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8151F"/>
                </a:solidFill>
                <a:latin typeface="Cambria"/>
              </a:rPr>
              <a:t>A brand-new listener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F5A70"/>
                </a:solidFill>
                <a:latin typeface="Calibri"/>
              </a:rPr>
              <a:t>With no actions and no interests, the profile is a prior.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2651760"/>
            <a:ext cx="640080" cy="640080"/>
          </a:xfrm>
          <a:prstGeom prst="ellipse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474720"/>
            <a:ext cx="301752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Headings ranked by what everyone plays, each 0.08 lower than the one above.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23774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1999" y="2651760"/>
            <a:ext cx="640080" cy="640080"/>
          </a:xfrm>
          <a:prstGeom prst="ellipse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3474720"/>
            <a:ext cx="301752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The startup questions lead, a local one first if they gave a town.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23774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3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21040" y="2651760"/>
            <a:ext cx="640080" cy="640080"/>
          </a:xfrm>
          <a:prstGeom prst="ellipse">
            <a:avLst/>
          </a:prstGeom>
          <a:solidFill>
            <a:srgbClr val="5E8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474720"/>
            <a:ext cx="301752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8151F"/>
                </a:solidFill>
                <a:latin typeface="Calibri"/>
              </a:rPr>
              <a:t>One play, search or chosen interest replaces the prior for good.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4EFE4"/>
                </a:solidFill>
                <a:latin typeface="Cambria"/>
              </a:rPr>
              <a:t>What changed in 2026-10-05.1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F4EFE4"/>
                </a:solidFill>
                <a:latin typeface="Calibri"/>
              </a:rPr>
              <a:t>•  Taste is a subject tree: the most specific subject an episode is about takes the whole signal, each heading above it 0.6x per level (Bengals &gt; NFL &gt; American football &gt; sport).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4EFE4"/>
                </a:solidFill>
                <a:latin typeface="Calibri"/>
              </a:rPr>
              <a:t>•  Chosen interests are constant: added after normalisation at 2, never decayed, never outvoted, never taken below that by a skip. Named subjects from the interests page count as well as the eight facets.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4EFE4"/>
                </a:solidFill>
                <a:latin typeface="Calibri"/>
              </a:rPr>
              <a:t>•  Weights: search 2 -&gt; 1.5, finish 2 -&gt; 1.5, pick 1.6 -&gt; 2.2.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4EFE4"/>
                </a:solidFill>
                <a:latin typeface="Calibri"/>
              </a:rPr>
              <a:t>•  New signal: adding something to a mix (mix_add) is worth 2.0.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4EFE4"/>
                </a:solidFill>
                <a:latin typeface="Calibri"/>
              </a:rPr>
              <a:t>•  The NFL, NBA, MLB and NHL teams are seeded into the category tree under their leagues, so one fan's team is a subject from their first search.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8A83A0"/>
                </a:solidFill>
                <a:latin typeface="Calibri"/>
              </a:rPr>
              <a:t>§202 in PROBLEMS.md  ·  fingerprint b2961ad9b5524ee7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Made for you chooses</dc:title>
  <dc:subject>ALGO_VERSION 2026-10-05.1</dc:subject>
  <dc:creator>FAM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